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1" r:id="rId1"/>
  </p:sldMasterIdLst>
  <p:sldIdLst>
    <p:sldId id="256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</p:sldIdLst>
  <p:sldSz cx="10085388" cy="75533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734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660" y="2267773"/>
            <a:ext cx="10088422" cy="20142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560" y="2386011"/>
            <a:ext cx="9489435" cy="191569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608" spc="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674" y="4372861"/>
            <a:ext cx="7564041" cy="1441999"/>
          </a:xfrm>
        </p:spPr>
        <p:txBody>
          <a:bodyPr>
            <a:normAutofit/>
          </a:bodyPr>
          <a:lstStyle>
            <a:lvl1pPr marL="0" indent="0" algn="ctr">
              <a:buNone/>
              <a:defRPr sz="2203"/>
            </a:lvl1pPr>
            <a:lvl2pPr marL="503560" indent="0" algn="ctr">
              <a:buNone/>
              <a:defRPr sz="2203"/>
            </a:lvl2pPr>
            <a:lvl3pPr marL="1007120" indent="0" algn="ctr">
              <a:buNone/>
              <a:defRPr sz="2203"/>
            </a:lvl3pPr>
            <a:lvl4pPr marL="1510680" indent="0" algn="ctr">
              <a:buNone/>
              <a:defRPr sz="2203"/>
            </a:lvl4pPr>
            <a:lvl5pPr marL="2014240" indent="0" algn="ctr">
              <a:buNone/>
              <a:defRPr sz="2203"/>
            </a:lvl5pPr>
            <a:lvl6pPr marL="2517800" indent="0" algn="ctr">
              <a:buNone/>
              <a:defRPr sz="2203"/>
            </a:lvl6pPr>
            <a:lvl7pPr marL="3021360" indent="0" algn="ctr">
              <a:buNone/>
              <a:defRPr sz="2203"/>
            </a:lvl7pPr>
            <a:lvl8pPr marL="3524921" indent="0" algn="ctr">
              <a:buNone/>
              <a:defRPr sz="2203"/>
            </a:lvl8pPr>
            <a:lvl9pPr marL="4028481" indent="0" algn="ctr">
              <a:buNone/>
              <a:defRPr sz="220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2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87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660" y="2267773"/>
            <a:ext cx="10088422" cy="20142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227" y="2432835"/>
            <a:ext cx="8698647" cy="1846368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608" b="0" spc="0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227" y="4388375"/>
            <a:ext cx="8698647" cy="1293734"/>
          </a:xfrm>
        </p:spPr>
        <p:txBody>
          <a:bodyPr anchor="t">
            <a:normAutofit/>
          </a:bodyPr>
          <a:lstStyle>
            <a:lvl1pPr marL="0" indent="0" algn="ctr">
              <a:buNone/>
              <a:defRPr sz="2203">
                <a:solidFill>
                  <a:schemeClr val="tx2"/>
                </a:solidFill>
              </a:defRPr>
            </a:lvl1pPr>
            <a:lvl2pPr marL="503560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120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3pPr>
            <a:lvl4pPr marL="1510680" indent="0">
              <a:buNone/>
              <a:defRPr sz="1542">
                <a:solidFill>
                  <a:schemeClr val="tx1">
                    <a:tint val="75000"/>
                  </a:schemeClr>
                </a:solidFill>
              </a:defRPr>
            </a:lvl4pPr>
            <a:lvl5pPr marL="2014240" indent="0">
              <a:buNone/>
              <a:defRPr sz="1542">
                <a:solidFill>
                  <a:schemeClr val="tx1">
                    <a:tint val="75000"/>
                  </a:schemeClr>
                </a:solidFill>
              </a:defRPr>
            </a:lvl5pPr>
            <a:lvl6pPr marL="2517800" indent="0">
              <a:buNone/>
              <a:defRPr sz="1542">
                <a:solidFill>
                  <a:schemeClr val="tx1">
                    <a:tint val="75000"/>
                  </a:schemeClr>
                </a:solidFill>
              </a:defRPr>
            </a:lvl6pPr>
            <a:lvl7pPr marL="3021360" indent="0">
              <a:buNone/>
              <a:defRPr sz="1542">
                <a:solidFill>
                  <a:schemeClr val="tx1">
                    <a:tint val="75000"/>
                  </a:schemeClr>
                </a:solidFill>
              </a:defRPr>
            </a:lvl7pPr>
            <a:lvl8pPr marL="3524921" indent="0">
              <a:buNone/>
              <a:defRPr sz="1542">
                <a:solidFill>
                  <a:schemeClr val="tx1">
                    <a:tint val="75000"/>
                  </a:schemeClr>
                </a:solidFill>
              </a:defRPr>
            </a:lvl8pPr>
            <a:lvl9pPr marL="4028481" indent="0">
              <a:buNone/>
              <a:defRPr sz="15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693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6401" y="2215642"/>
            <a:ext cx="4034155" cy="4632706"/>
          </a:xfrm>
        </p:spPr>
        <p:txBody>
          <a:bodyPr/>
          <a:lstStyle>
            <a:lvl1pPr>
              <a:defRPr sz="2423"/>
            </a:lvl1pPr>
            <a:lvl2pPr>
              <a:defRPr sz="2203"/>
            </a:lvl2pPr>
            <a:lvl3pPr>
              <a:defRPr sz="1983"/>
            </a:lvl3pPr>
            <a:lvl4pPr>
              <a:defRPr sz="1762"/>
            </a:lvl4pPr>
            <a:lvl5pPr>
              <a:defRPr sz="1762"/>
            </a:lvl5pPr>
            <a:lvl6pPr>
              <a:defRPr sz="1762"/>
            </a:lvl6pPr>
            <a:lvl7pPr>
              <a:defRPr sz="1762"/>
            </a:lvl7pPr>
            <a:lvl8pPr>
              <a:defRPr sz="1762"/>
            </a:lvl8pPr>
            <a:lvl9pPr>
              <a:defRPr sz="1762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94829" y="2215642"/>
            <a:ext cx="4034155" cy="4632706"/>
          </a:xfrm>
        </p:spPr>
        <p:txBody>
          <a:bodyPr/>
          <a:lstStyle>
            <a:lvl1pPr>
              <a:defRPr sz="2423"/>
            </a:lvl1pPr>
            <a:lvl2pPr>
              <a:defRPr sz="2203"/>
            </a:lvl2pPr>
            <a:lvl3pPr>
              <a:defRPr sz="1983"/>
            </a:lvl3pPr>
            <a:lvl4pPr>
              <a:defRPr sz="1762"/>
            </a:lvl4pPr>
            <a:lvl5pPr>
              <a:defRPr sz="1762"/>
            </a:lvl5pPr>
            <a:lvl6pPr>
              <a:defRPr sz="1762"/>
            </a:lvl6pPr>
            <a:lvl7pPr>
              <a:defRPr sz="1762"/>
            </a:lvl7pPr>
            <a:lvl8pPr>
              <a:defRPr sz="1762"/>
            </a:lvl8pPr>
            <a:lvl9pPr>
              <a:defRPr sz="1762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86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404" y="2107475"/>
            <a:ext cx="4034155" cy="818435"/>
          </a:xfrm>
        </p:spPr>
        <p:txBody>
          <a:bodyPr anchor="ctr">
            <a:normAutofit/>
          </a:bodyPr>
          <a:lstStyle>
            <a:lvl1pPr marL="0" indent="0">
              <a:buNone/>
              <a:defRPr sz="2203" b="1"/>
            </a:lvl1pPr>
            <a:lvl2pPr marL="503560" indent="0">
              <a:buNone/>
              <a:defRPr sz="2203" b="1"/>
            </a:lvl2pPr>
            <a:lvl3pPr marL="1007120" indent="0">
              <a:buNone/>
              <a:defRPr sz="1983" b="1"/>
            </a:lvl3pPr>
            <a:lvl4pPr marL="1510680" indent="0">
              <a:buNone/>
              <a:defRPr sz="1762" b="1"/>
            </a:lvl4pPr>
            <a:lvl5pPr marL="2014240" indent="0">
              <a:buNone/>
              <a:defRPr sz="1762" b="1"/>
            </a:lvl5pPr>
            <a:lvl6pPr marL="2517800" indent="0">
              <a:buNone/>
              <a:defRPr sz="1762" b="1"/>
            </a:lvl6pPr>
            <a:lvl7pPr marL="3021360" indent="0">
              <a:buNone/>
              <a:defRPr sz="1762" b="1"/>
            </a:lvl7pPr>
            <a:lvl8pPr marL="3524921" indent="0">
              <a:buNone/>
              <a:defRPr sz="1762" b="1"/>
            </a:lvl8pPr>
            <a:lvl9pPr marL="4028481" indent="0">
              <a:buNone/>
              <a:defRPr sz="176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6404" y="2925912"/>
            <a:ext cx="4034155" cy="3927729"/>
          </a:xfrm>
        </p:spPr>
        <p:txBody>
          <a:bodyPr/>
          <a:lstStyle>
            <a:lvl1pPr>
              <a:defRPr sz="2423"/>
            </a:lvl1pPr>
            <a:lvl2pPr>
              <a:defRPr sz="2203"/>
            </a:lvl2pPr>
            <a:lvl3pPr>
              <a:defRPr sz="1983"/>
            </a:lvl3pPr>
            <a:lvl4pPr>
              <a:defRPr sz="1762"/>
            </a:lvl4pPr>
            <a:lvl5pPr>
              <a:defRPr sz="1762"/>
            </a:lvl5pPr>
            <a:lvl6pPr>
              <a:defRPr sz="1762"/>
            </a:lvl6pPr>
            <a:lvl7pPr>
              <a:defRPr sz="1762"/>
            </a:lvl7pPr>
            <a:lvl8pPr>
              <a:defRPr sz="1762"/>
            </a:lvl8pPr>
            <a:lvl9pPr>
              <a:defRPr sz="1762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94639" y="2107475"/>
            <a:ext cx="4034155" cy="818435"/>
          </a:xfrm>
        </p:spPr>
        <p:txBody>
          <a:bodyPr anchor="ctr">
            <a:normAutofit/>
          </a:bodyPr>
          <a:lstStyle>
            <a:lvl1pPr marL="0" indent="0">
              <a:buNone/>
              <a:defRPr sz="2203" b="1"/>
            </a:lvl1pPr>
            <a:lvl2pPr marL="503560" indent="0">
              <a:buNone/>
              <a:defRPr sz="2203" b="1"/>
            </a:lvl2pPr>
            <a:lvl3pPr marL="1007120" indent="0">
              <a:buNone/>
              <a:defRPr sz="1983" b="1"/>
            </a:lvl3pPr>
            <a:lvl4pPr marL="1510680" indent="0">
              <a:buNone/>
              <a:defRPr sz="1762" b="1"/>
            </a:lvl4pPr>
            <a:lvl5pPr marL="2014240" indent="0">
              <a:buNone/>
              <a:defRPr sz="1762" b="1"/>
            </a:lvl5pPr>
            <a:lvl6pPr marL="2517800" indent="0">
              <a:buNone/>
              <a:defRPr sz="1762" b="1"/>
            </a:lvl6pPr>
            <a:lvl7pPr marL="3021360" indent="0">
              <a:buNone/>
              <a:defRPr sz="1762" b="1"/>
            </a:lvl7pPr>
            <a:lvl8pPr marL="3524921" indent="0">
              <a:buNone/>
              <a:defRPr sz="1762" b="1"/>
            </a:lvl8pPr>
            <a:lvl9pPr marL="4028481" indent="0">
              <a:buNone/>
              <a:defRPr sz="176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94639" y="2925910"/>
            <a:ext cx="4034155" cy="3927729"/>
          </a:xfrm>
        </p:spPr>
        <p:txBody>
          <a:bodyPr/>
          <a:lstStyle>
            <a:lvl1pPr>
              <a:defRPr sz="2423"/>
            </a:lvl1pPr>
            <a:lvl2pPr>
              <a:defRPr sz="2203"/>
            </a:lvl2pPr>
            <a:lvl3pPr>
              <a:defRPr sz="1983"/>
            </a:lvl3pPr>
            <a:lvl4pPr>
              <a:defRPr sz="1762"/>
            </a:lvl4pPr>
            <a:lvl5pPr>
              <a:defRPr sz="1762"/>
            </a:lvl5pPr>
            <a:lvl6pPr>
              <a:defRPr sz="1762"/>
            </a:lvl6pPr>
            <a:lvl7pPr>
              <a:defRPr sz="1762"/>
            </a:lvl7pPr>
            <a:lvl8pPr>
              <a:defRPr sz="1762"/>
            </a:lvl8pPr>
            <a:lvl9pPr>
              <a:defRPr sz="1762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42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1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827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404" y="2366709"/>
            <a:ext cx="5042694" cy="4229862"/>
          </a:xfrm>
        </p:spPr>
        <p:txBody>
          <a:bodyPr/>
          <a:lstStyle>
            <a:lvl1pPr>
              <a:defRPr sz="2423"/>
            </a:lvl1pPr>
            <a:lvl2pPr>
              <a:defRPr sz="2203"/>
            </a:lvl2pPr>
            <a:lvl3pPr>
              <a:defRPr sz="1983"/>
            </a:lvl3pPr>
            <a:lvl4pPr>
              <a:defRPr sz="1762"/>
            </a:lvl4pPr>
            <a:lvl5pPr>
              <a:defRPr sz="1762"/>
            </a:lvl5pPr>
            <a:lvl6pPr>
              <a:defRPr sz="1762"/>
            </a:lvl6pPr>
            <a:lvl7pPr>
              <a:defRPr sz="1762"/>
            </a:lvl7pPr>
            <a:lvl8pPr>
              <a:defRPr sz="1762"/>
            </a:lvl8pPr>
            <a:lvl9pPr>
              <a:defRPr sz="1762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9216" y="2365219"/>
            <a:ext cx="2823909" cy="3780318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72"/>
            </a:lvl1pPr>
            <a:lvl2pPr marL="503560" indent="0">
              <a:buNone/>
              <a:defRPr sz="1322"/>
            </a:lvl2pPr>
            <a:lvl3pPr marL="1007120" indent="0">
              <a:buNone/>
              <a:defRPr sz="1101"/>
            </a:lvl3pPr>
            <a:lvl4pPr marL="1510680" indent="0">
              <a:buNone/>
              <a:defRPr sz="991"/>
            </a:lvl4pPr>
            <a:lvl5pPr marL="2014240" indent="0">
              <a:buNone/>
              <a:defRPr sz="991"/>
            </a:lvl5pPr>
            <a:lvl6pPr marL="2517800" indent="0">
              <a:buNone/>
              <a:defRPr sz="991"/>
            </a:lvl6pPr>
            <a:lvl7pPr marL="3021360" indent="0">
              <a:buNone/>
              <a:defRPr sz="991"/>
            </a:lvl7pPr>
            <a:lvl8pPr marL="3524921" indent="0">
              <a:buNone/>
              <a:defRPr sz="991"/>
            </a:lvl8pPr>
            <a:lvl9pPr marL="4028481" indent="0">
              <a:buNone/>
              <a:defRPr sz="99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0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6404" y="2435715"/>
            <a:ext cx="5244402" cy="4229862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524">
                <a:solidFill>
                  <a:schemeClr val="tx1">
                    <a:lumMod val="50000"/>
                  </a:schemeClr>
                </a:solidFill>
              </a:defRPr>
            </a:lvl1pPr>
            <a:lvl2pPr marL="503560" indent="0">
              <a:buNone/>
              <a:defRPr sz="3084"/>
            </a:lvl2pPr>
            <a:lvl3pPr marL="1007120" indent="0">
              <a:buNone/>
              <a:defRPr sz="2643"/>
            </a:lvl3pPr>
            <a:lvl4pPr marL="1510680" indent="0">
              <a:buNone/>
              <a:defRPr sz="2203"/>
            </a:lvl4pPr>
            <a:lvl5pPr marL="2014240" indent="0">
              <a:buNone/>
              <a:defRPr sz="2203"/>
            </a:lvl5pPr>
            <a:lvl6pPr marL="2517800" indent="0">
              <a:buNone/>
              <a:defRPr sz="2203"/>
            </a:lvl6pPr>
            <a:lvl7pPr marL="3021360" indent="0">
              <a:buNone/>
              <a:defRPr sz="2203"/>
            </a:lvl7pPr>
            <a:lvl8pPr marL="3524921" indent="0">
              <a:buNone/>
              <a:defRPr sz="2203"/>
            </a:lvl8pPr>
            <a:lvl9pPr marL="4028481" indent="0">
              <a:buNone/>
              <a:defRPr sz="2203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256" y="2368670"/>
            <a:ext cx="2823909" cy="3776663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72"/>
            </a:lvl1pPr>
            <a:lvl2pPr marL="503560" indent="0">
              <a:buNone/>
              <a:defRPr sz="1322"/>
            </a:lvl2pPr>
            <a:lvl3pPr marL="1007120" indent="0">
              <a:buNone/>
              <a:defRPr sz="1101"/>
            </a:lvl3pPr>
            <a:lvl4pPr marL="1510680" indent="0">
              <a:buNone/>
              <a:defRPr sz="991"/>
            </a:lvl4pPr>
            <a:lvl5pPr marL="2014240" indent="0">
              <a:buNone/>
              <a:defRPr sz="991"/>
            </a:lvl5pPr>
            <a:lvl6pPr marL="2517800" indent="0">
              <a:buNone/>
              <a:defRPr sz="991"/>
            </a:lvl6pPr>
            <a:lvl7pPr marL="3021360" indent="0">
              <a:buNone/>
              <a:defRPr sz="991"/>
            </a:lvl7pPr>
            <a:lvl8pPr marL="3524921" indent="0">
              <a:buNone/>
              <a:defRPr sz="991"/>
            </a:lvl8pPr>
            <a:lvl9pPr marL="4028481" indent="0">
              <a:buNone/>
              <a:defRPr sz="99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1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84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460898" y="0"/>
            <a:ext cx="2269212" cy="75533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77793" y="671407"/>
            <a:ext cx="1987281" cy="6210512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371" y="671407"/>
            <a:ext cx="6595614" cy="621051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3371" y="7074061"/>
            <a:ext cx="2269209" cy="40214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3671" y="7074061"/>
            <a:ext cx="3540201" cy="40214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78137" y="7074061"/>
            <a:ext cx="727748" cy="40214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93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9" y="193965"/>
            <a:ext cx="10082867" cy="18127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5543" y="312988"/>
            <a:ext cx="8572580" cy="1661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543" y="2215642"/>
            <a:ext cx="8572580" cy="4632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1725" y="7074061"/>
            <a:ext cx="2862206" cy="40214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156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22470" y="7074061"/>
            <a:ext cx="4478674" cy="4021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6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16047" y="7074061"/>
            <a:ext cx="782762" cy="40214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322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915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xStyles>
    <p:titleStyle>
      <a:lvl1pPr algn="l" defTabSz="1007120" rtl="0" eaLnBrk="1" latinLnBrk="0" hangingPunct="1">
        <a:lnSpc>
          <a:spcPct val="85000"/>
        </a:lnSpc>
        <a:spcBef>
          <a:spcPct val="0"/>
        </a:spcBef>
        <a:buNone/>
        <a:defRPr sz="4406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01424" indent="-201424" algn="l" defTabSz="1007120" rtl="0" eaLnBrk="1" latinLnBrk="0" hangingPunct="1">
        <a:lnSpc>
          <a:spcPct val="90000"/>
        </a:lnSpc>
        <a:spcBef>
          <a:spcPts val="1322"/>
        </a:spcBef>
        <a:spcAft>
          <a:spcPts val="220"/>
        </a:spcAft>
        <a:buClr>
          <a:schemeClr val="tx1"/>
        </a:buClr>
        <a:buFont typeface="Wingdings" pitchFamily="2" charset="2"/>
        <a:buChar char=""/>
        <a:defRPr sz="2423" kern="1200">
          <a:solidFill>
            <a:schemeClr val="tx1"/>
          </a:solidFill>
          <a:latin typeface="+mn-lt"/>
          <a:ea typeface="+mn-ea"/>
          <a:cs typeface="+mn-cs"/>
        </a:defRPr>
      </a:lvl1pPr>
      <a:lvl2pPr marL="453204" indent="-201424" algn="l" defTabSz="1007120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tx1"/>
        </a:buClr>
        <a:buFont typeface="Wingdings" pitchFamily="2" charset="2"/>
        <a:buChar char=""/>
        <a:defRPr sz="2203" kern="1200">
          <a:solidFill>
            <a:schemeClr val="tx1"/>
          </a:solidFill>
          <a:latin typeface="+mn-lt"/>
          <a:ea typeface="+mn-ea"/>
          <a:cs typeface="+mn-cs"/>
        </a:defRPr>
      </a:lvl2pPr>
      <a:lvl3pPr marL="704984" indent="-201424" algn="l" defTabSz="1007120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tx1"/>
        </a:buClr>
        <a:buFont typeface="Wingdings" pitchFamily="2" charset="2"/>
        <a:buChar char=""/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956764" indent="-201424" algn="l" defTabSz="1007120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tx1"/>
        </a:buClr>
        <a:buFont typeface="Wingdings" pitchFamily="2" charset="2"/>
        <a:buChar char=""/>
        <a:defRPr sz="1762" kern="1200">
          <a:solidFill>
            <a:schemeClr val="tx1"/>
          </a:solidFill>
          <a:latin typeface="+mn-lt"/>
          <a:ea typeface="+mn-ea"/>
          <a:cs typeface="+mn-cs"/>
        </a:defRPr>
      </a:lvl4pPr>
      <a:lvl5pPr marL="1208544" indent="-201424" algn="l" defTabSz="1007120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tx1"/>
        </a:buClr>
        <a:buFont typeface="Wingdings" pitchFamily="2" charset="2"/>
        <a:buChar char=""/>
        <a:defRPr sz="1762" kern="1200">
          <a:solidFill>
            <a:schemeClr val="tx1"/>
          </a:solidFill>
          <a:latin typeface="+mn-lt"/>
          <a:ea typeface="+mn-ea"/>
          <a:cs typeface="+mn-cs"/>
        </a:defRPr>
      </a:lvl5pPr>
      <a:lvl6pPr marL="1414858" indent="-251780" algn="l" defTabSz="1007120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tx1"/>
        </a:buClr>
        <a:buFont typeface="Wingdings" pitchFamily="2" charset="2"/>
        <a:buChar char=""/>
        <a:defRPr sz="1762" kern="1200">
          <a:solidFill>
            <a:schemeClr val="tx1"/>
          </a:solidFill>
          <a:latin typeface="+mn-lt"/>
          <a:ea typeface="+mn-ea"/>
          <a:cs typeface="+mn-cs"/>
        </a:defRPr>
      </a:lvl6pPr>
      <a:lvl7pPr marL="1621041" indent="-251780" algn="l" defTabSz="1007120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tx1"/>
        </a:buClr>
        <a:buFont typeface="Wingdings" pitchFamily="2" charset="2"/>
        <a:buChar char=""/>
        <a:defRPr sz="1762" kern="1200">
          <a:solidFill>
            <a:schemeClr val="tx1"/>
          </a:solidFill>
          <a:latin typeface="+mn-lt"/>
          <a:ea typeface="+mn-ea"/>
          <a:cs typeface="+mn-cs"/>
        </a:defRPr>
      </a:lvl7pPr>
      <a:lvl8pPr marL="1794181" indent="-251780" algn="l" defTabSz="1007120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tx1"/>
        </a:buClr>
        <a:buFont typeface="Wingdings" pitchFamily="2" charset="2"/>
        <a:buChar char=""/>
        <a:defRPr sz="1762" kern="1200">
          <a:solidFill>
            <a:schemeClr val="tx1"/>
          </a:solidFill>
          <a:latin typeface="+mn-lt"/>
          <a:ea typeface="+mn-ea"/>
          <a:cs typeface="+mn-cs"/>
        </a:defRPr>
      </a:lvl8pPr>
      <a:lvl9pPr marL="1989349" indent="-251780" algn="l" defTabSz="1007120" rtl="0" eaLnBrk="1" latinLnBrk="0" hangingPunct="1">
        <a:lnSpc>
          <a:spcPct val="90000"/>
        </a:lnSpc>
        <a:spcBef>
          <a:spcPts val="220"/>
        </a:spcBef>
        <a:spcAft>
          <a:spcPts val="441"/>
        </a:spcAft>
        <a:buClr>
          <a:schemeClr val="tx1"/>
        </a:buClr>
        <a:buFont typeface="Wingdings" pitchFamily="2" charset="2"/>
        <a:buChar char=""/>
        <a:defRPr sz="17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120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560" algn="l" defTabSz="1007120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120" algn="l" defTabSz="1007120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0680" algn="l" defTabSz="1007120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4240" algn="l" defTabSz="1007120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7800" algn="l" defTabSz="1007120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1360" algn="l" defTabSz="1007120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4921" algn="l" defTabSz="1007120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28481" algn="l" defTabSz="1007120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0BDC344-CB1F-4719-83DD-3002E4E180EE}"/>
              </a:ext>
            </a:extLst>
          </p:cNvPr>
          <p:cNvSpPr txBox="1"/>
          <p:nvPr/>
        </p:nvSpPr>
        <p:spPr>
          <a:xfrm>
            <a:off x="2557220" y="2541723"/>
            <a:ext cx="5377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/>
              <a:t>Principes de conception GRASP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42C4FE-F2A7-41FA-9CED-EA3F3DDB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43" y="312988"/>
            <a:ext cx="8572580" cy="1066361"/>
          </a:xfrm>
        </p:spPr>
        <p:txBody>
          <a:bodyPr/>
          <a:lstStyle/>
          <a:p>
            <a:r>
              <a:rPr lang="fr-FR" dirty="0"/>
              <a:t>GRASP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B06D7C-F830-43F1-AA9E-25E83CFF6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117294"/>
            <a:ext cx="9058759" cy="5436031"/>
          </a:xfrm>
        </p:spPr>
        <p:txBody>
          <a:bodyPr>
            <a:normAutofit lnSpcReduction="10000"/>
          </a:bodyPr>
          <a:lstStyle/>
          <a:p>
            <a:r>
              <a:rPr lang="fr-FR" dirty="0"/>
              <a:t>signifie General </a:t>
            </a:r>
            <a:r>
              <a:rPr lang="fr-FR" dirty="0" err="1"/>
              <a:t>Responsibility</a:t>
            </a:r>
            <a:r>
              <a:rPr lang="fr-FR" dirty="0"/>
              <a:t> </a:t>
            </a:r>
            <a:r>
              <a:rPr lang="fr-FR" dirty="0" err="1"/>
              <a:t>Assignment</a:t>
            </a:r>
            <a:r>
              <a:rPr lang="fr-FR" dirty="0"/>
              <a:t> Software Patterns (ou Principles) pour Modèles de logiciels d'attribution de responsabilités générales</a:t>
            </a:r>
          </a:p>
          <a:p>
            <a:r>
              <a:rPr lang="fr-FR" dirty="0"/>
              <a:t>guides dans l’attribution des responsabilités aux objets collaborateurs.</a:t>
            </a:r>
          </a:p>
          <a:p>
            <a:r>
              <a:rPr lang="fr-FR" dirty="0"/>
              <a:t>9 patrons GRASP </a:t>
            </a:r>
          </a:p>
          <a:p>
            <a:pPr lvl="1"/>
            <a:r>
              <a:rPr lang="fr-FR" dirty="0"/>
              <a:t>Creator (Créateur)</a:t>
            </a:r>
          </a:p>
          <a:p>
            <a:pPr lvl="1"/>
            <a:r>
              <a:rPr lang="fr-FR" dirty="0"/>
              <a:t>Information Expert (Expert en information)</a:t>
            </a:r>
          </a:p>
          <a:p>
            <a:pPr lvl="1"/>
            <a:r>
              <a:rPr lang="fr-FR" dirty="0"/>
              <a:t>Low </a:t>
            </a:r>
            <a:r>
              <a:rPr lang="fr-FR" dirty="0" err="1"/>
              <a:t>Coupling</a:t>
            </a:r>
            <a:r>
              <a:rPr lang="fr-FR" dirty="0"/>
              <a:t> (Couplage faible)</a:t>
            </a:r>
          </a:p>
          <a:p>
            <a:pPr lvl="1"/>
            <a:r>
              <a:rPr lang="fr-FR" dirty="0"/>
              <a:t>Controller (Contrôleur)</a:t>
            </a:r>
          </a:p>
          <a:p>
            <a:pPr lvl="1"/>
            <a:r>
              <a:rPr lang="fr-FR" dirty="0"/>
              <a:t>High </a:t>
            </a:r>
            <a:r>
              <a:rPr lang="fr-FR" dirty="0" err="1"/>
              <a:t>Cohesion</a:t>
            </a:r>
            <a:r>
              <a:rPr lang="fr-FR" dirty="0"/>
              <a:t> (Cohésion forte)</a:t>
            </a:r>
          </a:p>
          <a:p>
            <a:pPr lvl="1"/>
            <a:r>
              <a:rPr lang="fr-FR" dirty="0"/>
              <a:t>Indirection (Indirection)</a:t>
            </a:r>
          </a:p>
          <a:p>
            <a:pPr lvl="1"/>
            <a:r>
              <a:rPr lang="fr-FR" dirty="0" err="1"/>
              <a:t>Polymorphism</a:t>
            </a:r>
            <a:r>
              <a:rPr lang="fr-FR" dirty="0"/>
              <a:t> (Polymorphisme)</a:t>
            </a:r>
          </a:p>
          <a:p>
            <a:pPr lvl="1"/>
            <a:r>
              <a:rPr lang="fr-FR" dirty="0" err="1"/>
              <a:t>Protected</a:t>
            </a:r>
            <a:r>
              <a:rPr lang="fr-FR" dirty="0"/>
              <a:t> Variations (Variantes protégées)</a:t>
            </a:r>
          </a:p>
          <a:p>
            <a:pPr lvl="1"/>
            <a:r>
              <a:rPr lang="fr-FR" dirty="0"/>
              <a:t>Pure Fabrication (Fabrication pure)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054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E1380D-54A1-4E6F-BFB1-FEC1488A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Responsabilité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3FA111-1C28-43ED-BA57-E73AA1C75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43" y="2215642"/>
            <a:ext cx="9054884" cy="4632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● La responsabilité peut être accomplie par un seul objet</a:t>
            </a:r>
          </a:p>
          <a:p>
            <a:pPr marL="0" indent="0">
              <a:buNone/>
            </a:pPr>
            <a:r>
              <a:rPr lang="fr-FR" dirty="0"/>
              <a:t>– ou un groupe d’objets accomplissent en collaboration une responsabilité.</a:t>
            </a:r>
          </a:p>
          <a:p>
            <a:pPr marL="0" indent="0">
              <a:buNone/>
            </a:pPr>
            <a:r>
              <a:rPr lang="fr-FR" dirty="0"/>
              <a:t>● GRASP nous aide à décider quelle responsabilité doit être attribuée à quel objet/classe.</a:t>
            </a:r>
          </a:p>
          <a:p>
            <a:pPr marL="0" indent="0">
              <a:buNone/>
            </a:pPr>
            <a:r>
              <a:rPr lang="fr-FR" dirty="0"/>
              <a:t>● Identifiez les objets et les responsabilités du domaine problématique, et identifiez également la manière dont les objets interagissent les uns avec les autres.</a:t>
            </a:r>
          </a:p>
          <a:p>
            <a:pPr marL="0" indent="0">
              <a:buNone/>
            </a:pPr>
            <a:r>
              <a:rPr lang="fr-FR" dirty="0"/>
              <a:t>● Définir un plan pour ces objets – c'est-à-dire une classe avec des méthodes mettant en œuvre ces responsabilités.</a:t>
            </a:r>
          </a:p>
        </p:txBody>
      </p:sp>
    </p:spTree>
    <p:extLst>
      <p:ext uri="{BB962C8B-B14F-4D97-AF65-F5344CB8AC3E}">
        <p14:creationId xmlns:p14="http://schemas.microsoft.com/office/powerpoint/2010/main" val="264388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E1380D-54A1-4E6F-BFB1-FEC1488A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Creator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3FA111-1C28-43ED-BA57-E73AA1C75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Qui crée un objet ? Ou qui devrait créer une nouvelle instance d’une classe ?</a:t>
            </a:r>
          </a:p>
          <a:p>
            <a:endParaRPr lang="fr-FR" dirty="0"/>
          </a:p>
          <a:p>
            <a:r>
              <a:rPr lang="fr-FR" dirty="0"/>
              <a:t>L'objet « Conteneur » crée des objets « contenus ».</a:t>
            </a:r>
          </a:p>
          <a:p>
            <a:endParaRPr lang="fr-FR" dirty="0"/>
          </a:p>
          <a:p>
            <a:r>
              <a:rPr lang="fr-FR" dirty="0"/>
              <a:t>Décidez qui peut être créateur en fonction de l'association des objets et de leur interaction.</a:t>
            </a:r>
          </a:p>
        </p:txBody>
      </p:sp>
    </p:spTree>
    <p:extLst>
      <p:ext uri="{BB962C8B-B14F-4D97-AF65-F5344CB8AC3E}">
        <p14:creationId xmlns:p14="http://schemas.microsoft.com/office/powerpoint/2010/main" val="114845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E1380D-54A1-4E6F-BFB1-FEC1488A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créateur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3FA111-1C28-43ED-BA57-E73AA1C75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Considérez un Magasin de Vidéos (</a:t>
            </a:r>
            <a:r>
              <a:rPr lang="fr-FR" dirty="0" err="1"/>
              <a:t>VideoStore</a:t>
            </a:r>
            <a:r>
              <a:rPr lang="fr-FR" dirty="0"/>
              <a:t>) et aux Vidéos (</a:t>
            </a:r>
            <a:r>
              <a:rPr lang="fr-FR" dirty="0" err="1"/>
              <a:t>Video</a:t>
            </a:r>
            <a:r>
              <a:rPr lang="fr-FR" dirty="0"/>
              <a:t>) dans ce magasin.</a:t>
            </a:r>
          </a:p>
          <a:p>
            <a:endParaRPr lang="fr-FR" dirty="0"/>
          </a:p>
          <a:p>
            <a:r>
              <a:rPr lang="fr-FR" dirty="0" err="1"/>
              <a:t>VideoStore</a:t>
            </a:r>
            <a:r>
              <a:rPr lang="fr-FR" dirty="0"/>
              <a:t> a une association d'agrégation avec </a:t>
            </a:r>
            <a:r>
              <a:rPr lang="fr-FR" dirty="0" err="1"/>
              <a:t>Video</a:t>
            </a:r>
            <a:r>
              <a:rPr lang="fr-FR" dirty="0"/>
              <a:t> c'est-à-dire que </a:t>
            </a:r>
            <a:r>
              <a:rPr lang="fr-FR" dirty="0" err="1"/>
              <a:t>VideoStore</a:t>
            </a:r>
            <a:r>
              <a:rPr lang="fr-FR" dirty="0"/>
              <a:t> est le conteneur et </a:t>
            </a:r>
            <a:r>
              <a:rPr lang="fr-FR" dirty="0" err="1"/>
              <a:t>Video</a:t>
            </a:r>
            <a:r>
              <a:rPr lang="fr-FR" dirty="0"/>
              <a:t> est l'objet contenu.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Ainsi, nous pouvons instancier un objet vidéo dans la classe </a:t>
            </a:r>
            <a:r>
              <a:rPr lang="fr-FR" dirty="0" err="1"/>
              <a:t>VideoStore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846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E1380D-54A1-4E6F-BFB1-FEC1488A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de l’exemple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CF29248-4A97-46ED-ADDE-6D2DE51B9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0" y="2501578"/>
            <a:ext cx="7862888" cy="374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3058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E1380D-54A1-4E6F-BFB1-FEC1488AD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250" y="445120"/>
            <a:ext cx="8229600" cy="1143000"/>
          </a:xfrm>
        </p:spPr>
        <p:txBody>
          <a:bodyPr/>
          <a:lstStyle/>
          <a:p>
            <a:r>
              <a:rPr lang="fr-FR" dirty="0"/>
              <a:t>Exemple de créateur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594CC40-E864-484F-AB03-D0C14BDD6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487" y="2062163"/>
            <a:ext cx="7223125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989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75ACF5-DF8B-4424-80E0-5B1C5124C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43" y="312988"/>
            <a:ext cx="8572580" cy="1453819"/>
          </a:xfrm>
        </p:spPr>
        <p:txBody>
          <a:bodyPr/>
          <a:lstStyle/>
          <a:p>
            <a:r>
              <a:rPr lang="fr-FR" dirty="0"/>
              <a:t>Expert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6EA31C-0208-4B25-95FA-DF7309938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628739"/>
            <a:ext cx="9120753" cy="3648075"/>
          </a:xfrm>
        </p:spPr>
        <p:txBody>
          <a:bodyPr>
            <a:normAutofit fontScale="92500"/>
          </a:bodyPr>
          <a:lstStyle/>
          <a:p>
            <a:r>
              <a:rPr lang="fr-FR" dirty="0"/>
              <a:t>Étant donné un objet o, quelles responsabilités peuvent être assignées à o ?</a:t>
            </a:r>
          </a:p>
          <a:p>
            <a:endParaRPr lang="fr-FR" dirty="0"/>
          </a:p>
          <a:p>
            <a:r>
              <a:rPr lang="fr-FR" dirty="0"/>
              <a:t>Le principe de l'expert dit : attribuez les responsabilités à o pour lesquelles o dispose des informations nécessaires pour assumer cette responsabilité.</a:t>
            </a:r>
          </a:p>
          <a:p>
            <a:endParaRPr lang="fr-FR" dirty="0"/>
          </a:p>
          <a:p>
            <a:r>
              <a:rPr lang="fr-FR" dirty="0"/>
              <a:t>Ils disposent de toutes les informations nécessaires pour effectuer des opérations ou, dans certains cas, ils collaborent avec d'autres pour assumer leurs responsabilités.</a:t>
            </a:r>
          </a:p>
        </p:txBody>
      </p:sp>
    </p:spTree>
    <p:extLst>
      <p:ext uri="{BB962C8B-B14F-4D97-AF65-F5344CB8AC3E}">
        <p14:creationId xmlns:p14="http://schemas.microsoft.com/office/powerpoint/2010/main" val="235341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75ACF5-DF8B-4424-80E0-5B1C5124C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d’Expert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6EA31C-0208-4B25-95FA-DF7309938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315751"/>
            <a:ext cx="9120753" cy="3682093"/>
          </a:xfrm>
        </p:spPr>
        <p:txBody>
          <a:bodyPr>
            <a:normAutofit/>
          </a:bodyPr>
          <a:lstStyle/>
          <a:p>
            <a:r>
              <a:rPr lang="fr-FR" dirty="0"/>
              <a:t>Supposons que nous ayons besoin d'obtenir toutes les vidéos d'un </a:t>
            </a:r>
            <a:r>
              <a:rPr lang="fr-FR" dirty="0" err="1"/>
              <a:t>VideoStore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Puisque </a:t>
            </a:r>
            <a:r>
              <a:rPr lang="fr-FR" dirty="0" err="1"/>
              <a:t>VideoStore</a:t>
            </a:r>
            <a:r>
              <a:rPr lang="fr-FR" dirty="0"/>
              <a:t> connaît toutes les vidéos, nous pouvons attribuer cette responsabilité de « donner toutes les vidéos » à la classe </a:t>
            </a:r>
            <a:r>
              <a:rPr lang="fr-FR" dirty="0" err="1"/>
              <a:t>VideoStore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 err="1"/>
              <a:t>VideoStore</a:t>
            </a:r>
            <a:r>
              <a:rPr lang="fr-FR" dirty="0"/>
              <a:t> est l'expert en informations.</a:t>
            </a:r>
          </a:p>
        </p:txBody>
      </p:sp>
    </p:spTree>
    <p:extLst>
      <p:ext uri="{BB962C8B-B14F-4D97-AF65-F5344CB8AC3E}">
        <p14:creationId xmlns:p14="http://schemas.microsoft.com/office/powerpoint/2010/main" val="129664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75ACF5-DF8B-4424-80E0-5B1C5124C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d’Expert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E9747CC-EF17-4708-AF0B-2AB704D15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43" y="2924712"/>
            <a:ext cx="7915759" cy="374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002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75ACF5-DF8B-4424-80E0-5B1C5124C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138" y="383126"/>
            <a:ext cx="8229600" cy="1143000"/>
          </a:xfrm>
        </p:spPr>
        <p:txBody>
          <a:bodyPr/>
          <a:lstStyle/>
          <a:p>
            <a:r>
              <a:rPr lang="fr-FR" dirty="0"/>
              <a:t>Exemple d’Expert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77255A3-5AE5-4209-9F17-29DD64B8A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50" y="2062163"/>
            <a:ext cx="8320088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759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9187A2-C77A-40AF-ACE1-A562D7A0B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Couplage faible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51C976-A694-4756-BB0B-83E6291C7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714" y="2291650"/>
            <a:ext cx="9260237" cy="4948687"/>
          </a:xfrm>
        </p:spPr>
        <p:txBody>
          <a:bodyPr>
            <a:normAutofit/>
          </a:bodyPr>
          <a:lstStyle/>
          <a:p>
            <a:r>
              <a:rPr lang="fr-FR" dirty="0"/>
              <a:t>Dans quelle mesure les objets sont-ils connectés les uns aux autres ?</a:t>
            </a:r>
          </a:p>
          <a:p>
            <a:r>
              <a:rPr lang="fr-FR" dirty="0"/>
              <a:t>Couplage – objet dépendant d'un autre objet.</a:t>
            </a:r>
          </a:p>
          <a:p>
            <a:r>
              <a:rPr lang="fr-FR" dirty="0"/>
              <a:t>Lorsque l’élément principal  change, cela affecte également l’élément dépendant.</a:t>
            </a:r>
          </a:p>
          <a:p>
            <a:r>
              <a:rPr lang="fr-FR" dirty="0"/>
              <a:t>Couplage faible – Comment pouvons-nous réduire l'impact du changement de l’élément principal sur l’élément dépendant.</a:t>
            </a:r>
          </a:p>
          <a:p>
            <a:r>
              <a:rPr lang="fr-FR" dirty="0"/>
              <a:t>Préférez un couplage faible – attribuez des responsabilités de manière à ce que le couplage reste faible.</a:t>
            </a:r>
          </a:p>
          <a:p>
            <a:r>
              <a:rPr lang="fr-FR" dirty="0"/>
              <a:t>Minimise la dépendance, rendant ainsi le système maintenable, efficace et le code réutilisable</a:t>
            </a:r>
          </a:p>
        </p:txBody>
      </p:sp>
    </p:spTree>
    <p:extLst>
      <p:ext uri="{BB962C8B-B14F-4D97-AF65-F5344CB8AC3E}">
        <p14:creationId xmlns:p14="http://schemas.microsoft.com/office/powerpoint/2010/main" val="198955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9187A2-C77A-40AF-ACE1-A562D7A0B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Couplage faible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51C976-A694-4756-BB0B-83E6291C7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52607"/>
            <a:ext cx="9260237" cy="3529739"/>
          </a:xfrm>
        </p:spPr>
        <p:txBody>
          <a:bodyPr>
            <a:normAutofit/>
          </a:bodyPr>
          <a:lstStyle/>
          <a:p>
            <a:r>
              <a:rPr lang="fr-FR" dirty="0"/>
              <a:t>Deux éléments sont couplés, si</a:t>
            </a:r>
          </a:p>
          <a:p>
            <a:endParaRPr lang="fr-FR" dirty="0"/>
          </a:p>
          <a:p>
            <a:pPr lvl="1"/>
            <a:r>
              <a:rPr lang="fr-FR" dirty="0"/>
              <a:t>Un élément a une association d'agrégation/composition avec un autre élément.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Un élément implémente/étend un autre élément.</a:t>
            </a:r>
          </a:p>
        </p:txBody>
      </p:sp>
    </p:spTree>
    <p:extLst>
      <p:ext uri="{BB962C8B-B14F-4D97-AF65-F5344CB8AC3E}">
        <p14:creationId xmlns:p14="http://schemas.microsoft.com/office/powerpoint/2010/main" val="710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BD0D6C-E08D-4F32-A0E0-76C15A666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06" y="274638"/>
            <a:ext cx="8229600" cy="1143000"/>
          </a:xfrm>
        </p:spPr>
        <p:txBody>
          <a:bodyPr/>
          <a:lstStyle/>
          <a:p>
            <a:r>
              <a:rPr lang="fr-FR" dirty="0"/>
              <a:t>Exemple de couplage faible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BFDA133-8B2F-481E-B1C7-103FF9183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894" y="2464231"/>
            <a:ext cx="8104947" cy="3496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A9FA68-09AA-48AA-8A08-4E964F95E447}"/>
              </a:ext>
            </a:extLst>
          </p:cNvPr>
          <p:cNvSpPr/>
          <p:nvPr/>
        </p:nvSpPr>
        <p:spPr>
          <a:xfrm>
            <a:off x="542441" y="6172444"/>
            <a:ext cx="89735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/>
              <a:t>ici, la classe </a:t>
            </a:r>
            <a:r>
              <a:rPr lang="fr-FR" sz="2800" dirty="0" err="1"/>
              <a:t>RentVideo</a:t>
            </a:r>
            <a:r>
              <a:rPr lang="fr-FR" sz="2800" dirty="0"/>
              <a:t> connaît à la fois les objets </a:t>
            </a:r>
            <a:r>
              <a:rPr lang="fr-FR" sz="2800" dirty="0" err="1"/>
              <a:t>VideoStore</a:t>
            </a:r>
            <a:r>
              <a:rPr lang="fr-FR" sz="2800" dirty="0"/>
              <a:t> et </a:t>
            </a:r>
            <a:r>
              <a:rPr lang="fr-FR" sz="2800" dirty="0" err="1"/>
              <a:t>Video</a:t>
            </a:r>
            <a:r>
              <a:rPr lang="fr-FR" sz="2800" dirty="0"/>
              <a:t>. La location dépend des deux classes.</a:t>
            </a:r>
          </a:p>
        </p:txBody>
      </p:sp>
    </p:spTree>
    <p:extLst>
      <p:ext uri="{BB962C8B-B14F-4D97-AF65-F5344CB8AC3E}">
        <p14:creationId xmlns:p14="http://schemas.microsoft.com/office/powerpoint/2010/main" val="1778403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BD0D6C-E08D-4F32-A0E0-76C15A666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56" y="515175"/>
            <a:ext cx="8229600" cy="1143000"/>
          </a:xfrm>
        </p:spPr>
        <p:txBody>
          <a:bodyPr/>
          <a:lstStyle/>
          <a:p>
            <a:r>
              <a:rPr lang="fr-FR" dirty="0"/>
              <a:t>Exemple de couplage faible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9FA68-09AA-48AA-8A08-4E964F95E447}"/>
              </a:ext>
            </a:extLst>
          </p:cNvPr>
          <p:cNvSpPr/>
          <p:nvPr/>
        </p:nvSpPr>
        <p:spPr>
          <a:xfrm>
            <a:off x="697424" y="2072090"/>
            <a:ext cx="908200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/>
              <a:t>Les classes </a:t>
            </a:r>
            <a:r>
              <a:rPr lang="fr-FR" sz="2800" dirty="0" err="1"/>
              <a:t>VideoStore</a:t>
            </a:r>
            <a:r>
              <a:rPr lang="fr-FR" sz="2800" dirty="0"/>
              <a:t> et </a:t>
            </a:r>
            <a:r>
              <a:rPr lang="fr-FR" sz="2800" dirty="0" err="1"/>
              <a:t>Video</a:t>
            </a:r>
            <a:r>
              <a:rPr lang="fr-FR" sz="2800" dirty="0"/>
              <a:t> sont couplées, et </a:t>
            </a:r>
            <a:r>
              <a:rPr lang="fr-FR" sz="2800" dirty="0" err="1"/>
              <a:t>RentVideo</a:t>
            </a:r>
            <a:r>
              <a:rPr lang="fr-FR" sz="2800" dirty="0"/>
              <a:t> est couplé à </a:t>
            </a:r>
            <a:r>
              <a:rPr lang="fr-FR" sz="2800" dirty="0" err="1"/>
              <a:t>VideoStore</a:t>
            </a:r>
            <a:r>
              <a:rPr lang="fr-FR" sz="2800" dirty="0"/>
              <a:t> offrant ainsi un couplage faible.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7E1404A-873A-4A04-A248-9D3FE0EEA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468" y="3440112"/>
            <a:ext cx="7989888" cy="383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138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C3FC2F-802A-49F6-B2EF-BDE1522B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Contrôleur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B08DA5-5732-477E-A13B-7979DE50C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43" y="1989602"/>
            <a:ext cx="8572580" cy="5024695"/>
          </a:xfrm>
        </p:spPr>
        <p:txBody>
          <a:bodyPr>
            <a:normAutofit fontScale="92500"/>
          </a:bodyPr>
          <a:lstStyle/>
          <a:p>
            <a:r>
              <a:rPr lang="fr-FR" dirty="0"/>
              <a:t>Traite la façon de déléguer la demande des objets de la couche UI aux objets de la couche de domaine.</a:t>
            </a:r>
          </a:p>
          <a:p>
            <a:endParaRPr lang="fr-FR" dirty="0"/>
          </a:p>
          <a:p>
            <a:r>
              <a:rPr lang="fr-FR" dirty="0"/>
              <a:t>Lorsqu'une requête provient d'un objet de la couche UI, le modèle de contrôleur nous aide à déterminer quel est le premier objet qui reçoit le message des objets de la couche UI.</a:t>
            </a:r>
          </a:p>
          <a:p>
            <a:endParaRPr lang="fr-FR" dirty="0"/>
          </a:p>
          <a:p>
            <a:r>
              <a:rPr lang="fr-FR" dirty="0"/>
              <a:t>Cet objet est appelé objet contrôleur qui reçoit la demande de l'objet de la couche UI, puis contrôle/coordonne avec un autre objet de la couche de domaine pour répondre à la demande.</a:t>
            </a:r>
          </a:p>
          <a:p>
            <a:endParaRPr lang="fr-FR" dirty="0"/>
          </a:p>
          <a:p>
            <a:r>
              <a:rPr lang="fr-FR" dirty="0"/>
              <a:t>Il délègue le travail à d'autres classes et coordonne l'activité globale.</a:t>
            </a:r>
          </a:p>
        </p:txBody>
      </p:sp>
    </p:spTree>
    <p:extLst>
      <p:ext uri="{BB962C8B-B14F-4D97-AF65-F5344CB8AC3E}">
        <p14:creationId xmlns:p14="http://schemas.microsoft.com/office/powerpoint/2010/main" val="79746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C3FC2F-802A-49F6-B2EF-BDE1522B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Contrôleur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B08DA5-5732-477E-A13B-7979DE50C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Nous pouvons créer un objet comme contrôleur, si</a:t>
            </a:r>
          </a:p>
          <a:p>
            <a:endParaRPr lang="fr-FR" dirty="0"/>
          </a:p>
          <a:p>
            <a:pPr lvl="1"/>
            <a:r>
              <a:rPr lang="fr-FR" dirty="0"/>
              <a:t>L'objet représente le système global (contrôleur de façade)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L’objet représente un cas d’utilisation, gérant une séquence d’opérations (contrôleur de session).</a:t>
            </a:r>
          </a:p>
          <a:p>
            <a:endParaRPr lang="fr-FR" dirty="0"/>
          </a:p>
          <a:p>
            <a:r>
              <a:rPr lang="fr-FR" dirty="0"/>
              <a:t>Avantages</a:t>
            </a:r>
          </a:p>
          <a:p>
            <a:pPr lvl="1"/>
            <a:r>
              <a:rPr lang="fr-FR" dirty="0"/>
              <a:t>On peut réutiliser cette classe de contrôleur.</a:t>
            </a:r>
          </a:p>
          <a:p>
            <a:pPr lvl="1"/>
            <a:r>
              <a:rPr lang="fr-FR" dirty="0"/>
              <a:t>Peut être utilisé pour maintenir l’état du cas d’utilisation.</a:t>
            </a:r>
          </a:p>
          <a:p>
            <a:pPr lvl="1"/>
            <a:r>
              <a:rPr lang="fr-FR" dirty="0"/>
              <a:t>Peut contrôler la séquence des activités</a:t>
            </a:r>
          </a:p>
        </p:txBody>
      </p:sp>
    </p:spTree>
    <p:extLst>
      <p:ext uri="{BB962C8B-B14F-4D97-AF65-F5344CB8AC3E}">
        <p14:creationId xmlns:p14="http://schemas.microsoft.com/office/powerpoint/2010/main" val="2680303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B85B13-D93B-4C34-A3CD-F68716CB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contrôleur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C516431-9315-41C1-BEC3-879FD75FD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43" y="2603728"/>
            <a:ext cx="8582025" cy="423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739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C12802-A053-4C86-9E63-2E4FFEB1D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Contrôleurs gonflés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85D96C-CD5F-4211-9D4E-48D4D32D1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classe du contrôleur est dite gonflée, si</a:t>
            </a:r>
          </a:p>
          <a:p>
            <a:endParaRPr lang="fr-FR" dirty="0"/>
          </a:p>
          <a:p>
            <a:pPr lvl="2"/>
            <a:r>
              <a:rPr lang="fr-FR" dirty="0"/>
              <a:t> </a:t>
            </a:r>
            <a:r>
              <a:rPr lang="fr-FR" sz="2400" dirty="0"/>
              <a:t>La classe est surchargée de trop de responsabilités.</a:t>
            </a:r>
          </a:p>
          <a:p>
            <a:pPr marL="457200" lvl="1" indent="0">
              <a:buNone/>
            </a:pPr>
            <a:r>
              <a:rPr lang="fr-FR" sz="2400" dirty="0"/>
              <a:t>	</a:t>
            </a:r>
          </a:p>
          <a:p>
            <a:pPr marL="457200" lvl="1" indent="0">
              <a:buNone/>
            </a:pPr>
            <a:r>
              <a:rPr lang="fr-FR" dirty="0"/>
              <a:t>Solution – Ajouter plus de contrôleurs</a:t>
            </a:r>
          </a:p>
          <a:p>
            <a:pPr marL="800100" lvl="1" indent="-342900"/>
            <a:endParaRPr lang="fr-FR" dirty="0"/>
          </a:p>
          <a:p>
            <a:pPr marL="800100" lvl="1" indent="-342900"/>
            <a:r>
              <a:rPr lang="fr-FR" sz="2400" dirty="0"/>
              <a:t>La classe contrôleur effectue également de nombreuses tâches au lieu de déléguer à une autre classe.</a:t>
            </a:r>
          </a:p>
          <a:p>
            <a:pPr marL="800100" lvl="1" indent="-342900"/>
            <a:endParaRPr lang="fr-FR" sz="2400" dirty="0"/>
          </a:p>
          <a:p>
            <a:pPr marL="457200" lvl="1" indent="0">
              <a:buNone/>
            </a:pPr>
            <a:r>
              <a:rPr lang="fr-FR" dirty="0"/>
              <a:t>Solution – la classe contrôleur doit déléguer des choses à d’autres.</a:t>
            </a:r>
          </a:p>
        </p:txBody>
      </p:sp>
    </p:spTree>
    <p:extLst>
      <p:ext uri="{BB962C8B-B14F-4D97-AF65-F5344CB8AC3E}">
        <p14:creationId xmlns:p14="http://schemas.microsoft.com/office/powerpoint/2010/main" val="243080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C12802-A053-4C86-9E63-2E4FFEB1D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Forte cohésion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85D96C-CD5F-4211-9D4E-48D4D32D1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983" y="24031893"/>
            <a:ext cx="9593451" cy="5120413"/>
          </a:xfrm>
        </p:spPr>
        <p:txBody>
          <a:bodyPr>
            <a:noAutofit/>
          </a:bodyPr>
          <a:lstStyle/>
          <a:p>
            <a:r>
              <a:rPr lang="fr-FR" sz="2800" dirty="0"/>
              <a:t>Comment les opérations d'un élément sont-elles fonctionnellement liées ?</a:t>
            </a:r>
          </a:p>
          <a:p>
            <a:r>
              <a:rPr lang="fr-FR" sz="2800" dirty="0"/>
              <a:t>Responsabilités connexes dans une unité gérable.</a:t>
            </a:r>
          </a:p>
          <a:p>
            <a:r>
              <a:rPr lang="fr-FR" sz="2800" dirty="0" err="1"/>
              <a:t>Préfèrez</a:t>
            </a:r>
            <a:r>
              <a:rPr lang="fr-FR" sz="2800" dirty="0"/>
              <a:t> une cohésion élevée</a:t>
            </a:r>
          </a:p>
          <a:p>
            <a:r>
              <a:rPr lang="fr-FR" sz="2800" dirty="0"/>
              <a:t>Qui définit clairement le but de l'élément</a:t>
            </a:r>
          </a:p>
          <a:p>
            <a:r>
              <a:rPr lang="fr-FR" sz="2800" dirty="0"/>
              <a:t>Avantages</a:t>
            </a:r>
          </a:p>
          <a:p>
            <a:pPr lvl="1"/>
            <a:r>
              <a:rPr lang="fr-FR" sz="2400" dirty="0"/>
              <a:t>Facilement compréhensible et maintenable.</a:t>
            </a:r>
          </a:p>
          <a:p>
            <a:pPr lvl="1"/>
            <a:r>
              <a:rPr lang="fr-FR" sz="2400" dirty="0"/>
              <a:t>Réutilisation du code</a:t>
            </a:r>
          </a:p>
          <a:p>
            <a:pPr lvl="1"/>
            <a:r>
              <a:rPr lang="fr-FR" sz="2400" dirty="0"/>
              <a:t>Faible couplage</a:t>
            </a:r>
          </a:p>
        </p:txBody>
      </p:sp>
    </p:spTree>
    <p:extLst>
      <p:ext uri="{BB962C8B-B14F-4D97-AF65-F5344CB8AC3E}">
        <p14:creationId xmlns:p14="http://schemas.microsoft.com/office/powerpoint/2010/main" val="256979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17C783-0B8A-4198-9C59-59F72A92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faible cohésion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517FF3B-3A93-4923-9069-8FC104ED2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607" y="2741653"/>
            <a:ext cx="6924511" cy="4108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396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17C783-0B8A-4198-9C59-59F72A92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cohésion forte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7D385A50-437C-4929-A976-45A1DFA17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2" y="2653385"/>
            <a:ext cx="8412163" cy="4325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706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D921D5-9111-4E65-8353-DE7430A18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Polymorphisme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89613A-F07B-4117-9524-E5F906714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43" y="2215642"/>
            <a:ext cx="8572580" cy="3596222"/>
          </a:xfrm>
        </p:spPr>
        <p:txBody>
          <a:bodyPr/>
          <a:lstStyle/>
          <a:p>
            <a:r>
              <a:rPr lang="fr-FR" dirty="0"/>
              <a:t>Comment gérer les éléments liés mais variables en fonction du type d'élément ?</a:t>
            </a:r>
          </a:p>
          <a:p>
            <a:endParaRPr lang="fr-FR" dirty="0"/>
          </a:p>
          <a:p>
            <a:r>
              <a:rPr lang="fr-FR" dirty="0"/>
              <a:t>Le polymorphisme nous guide pour décider quel objet est responsable de la gestion de ces différents éléments.</a:t>
            </a:r>
          </a:p>
          <a:p>
            <a:endParaRPr lang="fr-FR" dirty="0"/>
          </a:p>
          <a:p>
            <a:r>
              <a:rPr lang="fr-FR" dirty="0"/>
              <a:t>Avantages : gérer de nouvelles variantes deviendra facile.</a:t>
            </a:r>
          </a:p>
        </p:txBody>
      </p:sp>
    </p:spTree>
    <p:extLst>
      <p:ext uri="{BB962C8B-B14F-4D97-AF65-F5344CB8AC3E}">
        <p14:creationId xmlns:p14="http://schemas.microsoft.com/office/powerpoint/2010/main" val="209258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616666-2E76-4434-A992-909DFC0D5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polymorphisme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68F6DA-2942-4481-8509-BFE7F49F5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924" y="2032297"/>
            <a:ext cx="9012264" cy="5311882"/>
          </a:xfrm>
        </p:spPr>
        <p:txBody>
          <a:bodyPr>
            <a:normAutofit/>
          </a:bodyPr>
          <a:lstStyle/>
          <a:p>
            <a:r>
              <a:rPr lang="fr-FR" dirty="0" err="1"/>
              <a:t>getArea</a:t>
            </a:r>
            <a:r>
              <a:rPr lang="fr-FR" dirty="0"/>
              <a:t>() varie selon le type de forme, nous attribuons donc cette responsabilité aux sous-classes.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En envoyant un message à l'objet Shape, un appel sera effectué vers l'objet de sous-classe correspondant – Cercle ou Triangle.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B1E98779-F079-4C49-8A92-47BC9F1FA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129" y="3316638"/>
            <a:ext cx="649287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47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DD016C-F90E-47AF-9B7F-19AD68091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Fabrication pure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A11BE5-FD91-46E3-8FAF-915966AFF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43" y="2665093"/>
            <a:ext cx="8572580" cy="3921687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Classe fabriquée/classe artificielle – attribue un ensemble de responsabilités associées qui ne représentent aucun objet de domaine.</a:t>
            </a:r>
          </a:p>
          <a:p>
            <a:endParaRPr lang="fr-FR" dirty="0"/>
          </a:p>
          <a:p>
            <a:r>
              <a:rPr lang="fr-FR" dirty="0"/>
              <a:t>Fournit un ensemble d'activités très cohérent.</a:t>
            </a:r>
          </a:p>
          <a:p>
            <a:endParaRPr lang="fr-FR" dirty="0"/>
          </a:p>
          <a:p>
            <a:r>
              <a:rPr lang="fr-FR" dirty="0"/>
              <a:t>Comportement décomposé – implémente un algorithme.</a:t>
            </a:r>
          </a:p>
          <a:p>
            <a:r>
              <a:rPr lang="fr-FR" dirty="0"/>
              <a:t>Exemples : adaptateur, stratégie</a:t>
            </a:r>
          </a:p>
          <a:p>
            <a:endParaRPr lang="fr-FR" dirty="0"/>
          </a:p>
          <a:p>
            <a:r>
              <a:rPr lang="fr-FR" dirty="0"/>
              <a:t>Avantages : Cohésion élevée, faible couplage et possibilité de réutiliser cette classe.</a:t>
            </a:r>
          </a:p>
        </p:txBody>
      </p:sp>
    </p:spTree>
    <p:extLst>
      <p:ext uri="{BB962C8B-B14F-4D97-AF65-F5344CB8AC3E}">
        <p14:creationId xmlns:p14="http://schemas.microsoft.com/office/powerpoint/2010/main" val="39569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DD016C-F90E-47AF-9B7F-19AD68091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Fabrication pure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A11BE5-FD91-46E3-8FAF-915966AFF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43" y="2215641"/>
            <a:ext cx="8572580" cy="5024695"/>
          </a:xfrm>
        </p:spPr>
        <p:txBody>
          <a:bodyPr>
            <a:normAutofit fontScale="92500"/>
          </a:bodyPr>
          <a:lstStyle/>
          <a:p>
            <a:r>
              <a:rPr lang="fr-FR" dirty="0"/>
              <a:t>Supposons que nous ayons une classe Shape, si nous devons stocker les données de forme dans une base de données.</a:t>
            </a:r>
          </a:p>
          <a:p>
            <a:endParaRPr lang="fr-FR" dirty="0"/>
          </a:p>
          <a:p>
            <a:r>
              <a:rPr lang="fr-FR" dirty="0"/>
              <a:t>Si nous mettons cette responsabilité dans la classe Shape, il y aura de nombreuses opérations liées à la base de données rendant ainsi Shape </a:t>
            </a:r>
            <a:r>
              <a:rPr lang="fr-FR" dirty="0" err="1"/>
              <a:t>incohésive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Créez donc une classe </a:t>
            </a:r>
            <a:r>
              <a:rPr lang="fr-FR" dirty="0" err="1"/>
              <a:t>DBStore</a:t>
            </a:r>
            <a:r>
              <a:rPr lang="fr-FR" dirty="0"/>
              <a:t> fabriquée qui est chargée d'effectuer toutes les opérations de base de données.</a:t>
            </a:r>
          </a:p>
          <a:p>
            <a:endParaRPr lang="fr-FR" dirty="0"/>
          </a:p>
          <a:p>
            <a:r>
              <a:rPr lang="fr-FR" dirty="0"/>
              <a:t>De même, </a:t>
            </a:r>
            <a:r>
              <a:rPr lang="fr-FR" dirty="0" err="1"/>
              <a:t>logInterface</a:t>
            </a:r>
            <a:r>
              <a:rPr lang="fr-FR" dirty="0"/>
              <a:t>, responsable de la journalisation des informations, est également un bon exemple pour Pure Fabrication.</a:t>
            </a:r>
          </a:p>
        </p:txBody>
      </p:sp>
    </p:spTree>
    <p:extLst>
      <p:ext uri="{BB962C8B-B14F-4D97-AF65-F5344CB8AC3E}">
        <p14:creationId xmlns:p14="http://schemas.microsoft.com/office/powerpoint/2010/main" val="2042549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3EA025-A3FC-4635-8965-0F5BA23BC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Indirection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1D1954-B148-47DC-8B1B-B9509EF78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28113"/>
            <a:ext cx="8407831" cy="3693718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Comment éviter un couplage direct entre deux ou plusieurs éléments.</a:t>
            </a:r>
          </a:p>
          <a:p>
            <a:endParaRPr lang="fr-FR" dirty="0"/>
          </a:p>
          <a:p>
            <a:r>
              <a:rPr lang="fr-FR" dirty="0"/>
              <a:t>L'indirection introduit une unité intermédiaire pour communiquer entre les autres unités, de sorte que les autres unités ne soient pas directement couplées.</a:t>
            </a:r>
          </a:p>
          <a:p>
            <a:endParaRPr lang="fr-FR" dirty="0"/>
          </a:p>
          <a:p>
            <a:r>
              <a:rPr lang="fr-FR" dirty="0"/>
              <a:t>Avantages : faible couplage</a:t>
            </a:r>
          </a:p>
          <a:p>
            <a:endParaRPr lang="fr-FR" dirty="0"/>
          </a:p>
          <a:p>
            <a:r>
              <a:rPr lang="fr-FR" dirty="0"/>
              <a:t>Exemple : Adaptateur, Façade, Observer</a:t>
            </a:r>
          </a:p>
        </p:txBody>
      </p:sp>
    </p:spTree>
    <p:extLst>
      <p:ext uri="{BB962C8B-B14F-4D97-AF65-F5344CB8AC3E}">
        <p14:creationId xmlns:p14="http://schemas.microsoft.com/office/powerpoint/2010/main" val="2184971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3EA025-A3FC-4635-8965-0F5BA23BC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d’indirection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1D1954-B148-47DC-8B1B-B9509EF78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231756"/>
            <a:ext cx="8407831" cy="1317356"/>
          </a:xfrm>
        </p:spPr>
        <p:txBody>
          <a:bodyPr>
            <a:noAutofit/>
          </a:bodyPr>
          <a:lstStyle/>
          <a:p>
            <a:r>
              <a:rPr lang="fr-FR" sz="2400" dirty="0"/>
              <a:t>Ici, le polymorphisme illustre l'indirection</a:t>
            </a:r>
          </a:p>
          <a:p>
            <a:r>
              <a:rPr lang="fr-FR" sz="2400" dirty="0"/>
              <a:t>La classe Employé fournit un niveau d’indirection vers d'autres unités du système.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8B0BFD8C-4415-4A3D-8928-C4E3AAF87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3874576"/>
            <a:ext cx="8459788" cy="3441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341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669F4C-AE30-434B-9677-6A2ED51E6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Variante protégée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B1E0EF-7A18-4324-9C36-98108849A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Comment éviter l'impact des variations de certains éléments sur les autres éléments.</a:t>
            </a:r>
          </a:p>
          <a:p>
            <a:endParaRPr lang="fr-FR" dirty="0"/>
          </a:p>
          <a:p>
            <a:r>
              <a:rPr lang="fr-FR" dirty="0"/>
              <a:t>Il fournit une interface bien définie afin qu'il n'y ait aucun effet sur les autres unités.</a:t>
            </a:r>
          </a:p>
          <a:p>
            <a:endParaRPr lang="fr-FR" dirty="0"/>
          </a:p>
          <a:p>
            <a:r>
              <a:rPr lang="fr-FR" dirty="0"/>
              <a:t>Offre flexibilité et protection contre les variations.</a:t>
            </a:r>
          </a:p>
          <a:p>
            <a:endParaRPr lang="fr-FR" dirty="0"/>
          </a:p>
          <a:p>
            <a:r>
              <a:rPr lang="fr-FR" dirty="0"/>
              <a:t>Fournit une conception plus structurée.</a:t>
            </a:r>
          </a:p>
          <a:p>
            <a:r>
              <a:rPr lang="fr-FR" dirty="0"/>
              <a:t>Exemple : polymorphisme, encapsulation de données, interfaces</a:t>
            </a:r>
          </a:p>
        </p:txBody>
      </p:sp>
    </p:spTree>
    <p:extLst>
      <p:ext uri="{BB962C8B-B14F-4D97-AF65-F5344CB8AC3E}">
        <p14:creationId xmlns:p14="http://schemas.microsoft.com/office/powerpoint/2010/main" val="1333067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À bandes">
  <a:themeElements>
    <a:clrScheme name="À bandes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À bande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À bandes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TM03090430[[fn=À bandes]]</Template>
  <TotalTime>701</TotalTime>
  <Words>918</Words>
  <Application>Microsoft Office PowerPoint</Application>
  <PresentationFormat>Personnalisé</PresentationFormat>
  <Paragraphs>159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2" baseType="lpstr">
      <vt:lpstr>Corbel</vt:lpstr>
      <vt:lpstr>Wingdings</vt:lpstr>
      <vt:lpstr>À bandes</vt:lpstr>
      <vt:lpstr>Présentation PowerPoint</vt:lpstr>
      <vt:lpstr>GRASP</vt:lpstr>
      <vt:lpstr>Responsabilité</vt:lpstr>
      <vt:lpstr>Creator</vt:lpstr>
      <vt:lpstr>Exemple de créateur</vt:lpstr>
      <vt:lpstr>Diagramme de l’exemple</vt:lpstr>
      <vt:lpstr>Exemple de créateur</vt:lpstr>
      <vt:lpstr>Expert</vt:lpstr>
      <vt:lpstr>Exemple d’Expert</vt:lpstr>
      <vt:lpstr>Exemple d’Expert</vt:lpstr>
      <vt:lpstr>Exemple d’Expert</vt:lpstr>
      <vt:lpstr>Couplage faible</vt:lpstr>
      <vt:lpstr>Couplage faible</vt:lpstr>
      <vt:lpstr>Exemple de couplage faible</vt:lpstr>
      <vt:lpstr>Exemple de couplage faible</vt:lpstr>
      <vt:lpstr>Contrôleur</vt:lpstr>
      <vt:lpstr>Contrôleur</vt:lpstr>
      <vt:lpstr>Exemple de contrôleur</vt:lpstr>
      <vt:lpstr>Contrôleurs gonflés</vt:lpstr>
      <vt:lpstr>Forte cohésion</vt:lpstr>
      <vt:lpstr>Exemple de faible cohésion</vt:lpstr>
      <vt:lpstr>Exemple de cohésion forte</vt:lpstr>
      <vt:lpstr>Polymorphisme</vt:lpstr>
      <vt:lpstr>Exemple de polymorphisme</vt:lpstr>
      <vt:lpstr>Fabrication pure</vt:lpstr>
      <vt:lpstr>Exemple de Fabrication pure</vt:lpstr>
      <vt:lpstr>Indirection</vt:lpstr>
      <vt:lpstr>Exemple d’indirection</vt:lpstr>
      <vt:lpstr>Variante protégée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Christian RALAIVAO</cp:lastModifiedBy>
  <cp:revision>37</cp:revision>
  <dcterms:created xsi:type="dcterms:W3CDTF">2013-01-27T09:14:16Z</dcterms:created>
  <dcterms:modified xsi:type="dcterms:W3CDTF">2024-07-15T13:50:26Z</dcterms:modified>
  <cp:category/>
</cp:coreProperties>
</file>